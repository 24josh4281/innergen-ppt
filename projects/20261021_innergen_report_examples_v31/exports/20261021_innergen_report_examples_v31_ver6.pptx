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7737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1. 수행범위와 단계별 추진절차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8296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CDP 대응은 요구사항 확인부터 답변 확정까지 단계별로 수행할 예정입니다.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10896" y="1802765"/>
            <a:ext cx="2146554" cy="3797935"/>
            <a:chOff x="310896" y="1802765"/>
            <a:chExt cx="2146554" cy="3797935"/>
          </a:xfrm>
        </p:grpSpPr>
        <p:sp>
          <p:nvSpPr>
            <p:cNvPr id="9" name="TextBox 9"/>
            <p:cNvSpPr txBox="1"/>
            <p:nvPr/>
          </p:nvSpPr>
          <p:spPr>
            <a:xfrm>
              <a:off x="310896" y="1802765"/>
              <a:ext cx="1327063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수행개요 · 범위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17500" y="2124075"/>
              <a:ext cx="2139950" cy="3476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7500" y="2124075"/>
              <a:ext cx="213995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0629" y="2299335"/>
              <a:ext cx="1521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착수 시 확인할 기준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962" y="2798445"/>
              <a:ext cx="912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적용 대상 · 기준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629" y="302323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대상 조직: 미확정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629" y="32613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보고 연도: 미확정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629" y="3499485"/>
              <a:ext cx="1740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 판본·모듈: 미확정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66725" y="3819525"/>
              <a:ext cx="1838325" cy="9525"/>
            </a:xfrm>
            <a:custGeom>
              <a:avLst/>
              <a:gdLst/>
              <a:ahLst/>
              <a:cxnLst/>
              <a:rect l="l" t="t" r="r" b="b"/>
              <a:pathLst>
                <a:path w="1838325" h="9525">
                  <a:moveTo>
                    <a:pt x="0" y="0"/>
                  </a:moveTo>
                  <a:lnTo>
                    <a:pt x="1838325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1962" y="39985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포함 · 제외 · 협의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629" y="4223385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포함: 진단·답변 지원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629" y="44615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제외: 평가 결과 보장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629" y="4699635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협의: 제출 대행 여부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1391" y="5192078"/>
              <a:ext cx="1593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범위 확정 후 일정 구체화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2679446" y="1802765"/>
            <a:ext cx="6902704" cy="3797935"/>
            <a:chOff x="2679446" y="1802765"/>
            <a:chExt cx="6902704" cy="3797935"/>
          </a:xfrm>
        </p:grpSpPr>
        <p:sp>
          <p:nvSpPr>
            <p:cNvPr id="24" name="TextBox 24"/>
            <p:cNvSpPr txBox="1"/>
            <p:nvPr/>
          </p:nvSpPr>
          <p:spPr>
            <a:xfrm>
              <a:off x="2679446" y="1802765"/>
              <a:ext cx="2273406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4단계 추진절차 · 작업 흐름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86050" y="2124075"/>
              <a:ext cx="1638300" cy="34766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38650" y="2124075"/>
              <a:ext cx="1638300" cy="34766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91250" y="2124075"/>
              <a:ext cx="1638300" cy="34766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43850" y="2124075"/>
              <a:ext cx="1638300" cy="347662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860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386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1912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438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94254" y="2299335"/>
              <a:ext cx="1318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 요구사항 확인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46854" y="2299335"/>
              <a:ext cx="97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 근거 수집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99454" y="2299335"/>
              <a:ext cx="97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 답변 작성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52054" y="2299335"/>
              <a:ext cx="1021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 검토·확정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3505200" y="3048000"/>
              <a:ext cx="5267325" cy="1838325"/>
              <a:chOff x="3505200" y="3048000"/>
              <a:chExt cx="5267325" cy="1838325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3505200" y="33528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3505200" y="42672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5257800" y="33528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5257800" y="42672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7010400" y="33528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7010400" y="42672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8763000" y="33528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8763000" y="42672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4210050" y="48768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4381500" y="3048000"/>
                <a:ext cx="9525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28800">
                    <a:moveTo>
                      <a:pt x="0" y="0"/>
                    </a:moveTo>
                    <a:lnTo>
                      <a:pt x="0" y="18288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4381500" y="3048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5962650" y="48768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6134100" y="3048000"/>
                <a:ext cx="9525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28800">
                    <a:moveTo>
                      <a:pt x="0" y="0"/>
                    </a:moveTo>
                    <a:lnTo>
                      <a:pt x="0" y="18288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6134100" y="3048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7715250" y="48768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7886700" y="3048000"/>
                <a:ext cx="9525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28800">
                    <a:moveTo>
                      <a:pt x="0" y="0"/>
                    </a:moveTo>
                    <a:lnTo>
                      <a:pt x="0" y="18288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7886700" y="3048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</p:grpSp>
        <p:grpSp>
          <p:nvGrpSpPr>
            <p:cNvPr id="66" name="Group 66"/>
            <p:cNvGrpSpPr/>
            <p:nvPr/>
          </p:nvGrpSpPr>
          <p:grpSpPr>
            <a:xfrm>
              <a:off x="3448050" y="2990850"/>
              <a:ext cx="5372100" cy="1504950"/>
              <a:chOff x="3448050" y="2990850"/>
              <a:chExt cx="5372100" cy="1504950"/>
            </a:xfrm>
          </p:grpSpPr>
          <p:sp>
            <p:nvSpPr>
              <p:cNvPr id="55" name="Polygon 55"/>
              <p:cNvSpPr/>
              <p:nvPr/>
            </p:nvSpPr>
            <p:spPr>
              <a:xfrm>
                <a:off x="3448050" y="35052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57150" y="762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56" name="Polygon 56"/>
              <p:cNvSpPr/>
              <p:nvPr/>
            </p:nvSpPr>
            <p:spPr>
              <a:xfrm>
                <a:off x="3448050" y="44196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57150" y="762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57" name="Polygon 57"/>
              <p:cNvSpPr/>
              <p:nvPr/>
            </p:nvSpPr>
            <p:spPr>
              <a:xfrm>
                <a:off x="5200650" y="35052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57150" y="762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58" name="Polygon 58"/>
              <p:cNvSpPr/>
              <p:nvPr/>
            </p:nvSpPr>
            <p:spPr>
              <a:xfrm>
                <a:off x="5200650" y="44196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57150" y="762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59" name="Polygon 59"/>
              <p:cNvSpPr/>
              <p:nvPr/>
            </p:nvSpPr>
            <p:spPr>
              <a:xfrm>
                <a:off x="6953250" y="35052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57150" y="762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60" name="Polygon 60"/>
              <p:cNvSpPr/>
              <p:nvPr/>
            </p:nvSpPr>
            <p:spPr>
              <a:xfrm>
                <a:off x="6953250" y="44196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57150" y="762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61" name="Polygon 61"/>
              <p:cNvSpPr/>
              <p:nvPr/>
            </p:nvSpPr>
            <p:spPr>
              <a:xfrm>
                <a:off x="8705850" y="35052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57150" y="762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62" name="Polygon 62"/>
              <p:cNvSpPr/>
              <p:nvPr/>
            </p:nvSpPr>
            <p:spPr>
              <a:xfrm>
                <a:off x="8705850" y="44196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57150" y="762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63" name="Polygon 63"/>
              <p:cNvSpPr/>
              <p:nvPr/>
            </p:nvSpPr>
            <p:spPr>
              <a:xfrm>
                <a:off x="4476750" y="299085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64" name="Polygon 64"/>
              <p:cNvSpPr/>
              <p:nvPr/>
            </p:nvSpPr>
            <p:spPr>
              <a:xfrm>
                <a:off x="6229350" y="299085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65" name="Polygon 65"/>
              <p:cNvSpPr/>
              <p:nvPr/>
            </p:nvSpPr>
            <p:spPr>
              <a:xfrm>
                <a:off x="7981950" y="299085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</p:grpSp>
        <p:grpSp>
          <p:nvGrpSpPr>
            <p:cNvPr id="79" name="Group 79"/>
            <p:cNvGrpSpPr/>
            <p:nvPr/>
          </p:nvGrpSpPr>
          <p:grpSpPr>
            <a:xfrm>
              <a:off x="2800350" y="2743200"/>
              <a:ext cx="6667500" cy="2438400"/>
              <a:chOff x="2800350" y="2743200"/>
              <a:chExt cx="6667500" cy="24384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2800350" y="27432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2800350" y="36576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2800350" y="45720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4552950" y="27432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4552950" y="36576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4552950" y="45720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6305550" y="27432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6305550" y="36576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6305550" y="45720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8058150" y="27432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8058150" y="36576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8058150" y="4572000"/>
                <a:ext cx="1409700" cy="6096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FBFBF"/>
                </a:solidFill>
              </a:ln>
            </p:spPr>
          </p:sp>
        </p:grpSp>
        <p:grpSp>
          <p:nvGrpSpPr>
            <p:cNvPr id="92" name="Group 92"/>
            <p:cNvGrpSpPr/>
            <p:nvPr/>
          </p:nvGrpSpPr>
          <p:grpSpPr>
            <a:xfrm>
              <a:off x="2980777" y="2983706"/>
              <a:ext cx="6306645" cy="2048828"/>
              <a:chOff x="2980777" y="2983706"/>
              <a:chExt cx="6306645" cy="2048828"/>
            </a:xfrm>
          </p:grpSpPr>
          <p:sp>
            <p:nvSpPr>
              <p:cNvPr id="80" name="TextBox 80"/>
              <p:cNvSpPr txBox="1"/>
              <p:nvPr/>
            </p:nvSpPr>
            <p:spPr>
              <a:xfrm>
                <a:off x="2980777" y="2983706"/>
                <a:ext cx="10488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문항·모듈 확인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3022425" y="3898106"/>
                <a:ext cx="9655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요구사항 분해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2980777" y="4812506"/>
                <a:ext cx="10488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범위·방향 정리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733377" y="2983706"/>
                <a:ext cx="10488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자료 요청·수집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4676584" y="3898106"/>
                <a:ext cx="11624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문항별 근거 연결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4809101" y="4812506"/>
                <a:ext cx="8973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누락·갭 점검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6504908" y="2983706"/>
                <a:ext cx="10109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답변 초안 작성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6485977" y="3898106"/>
                <a:ext cx="10488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주장·증빙 대조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504908" y="4812506"/>
                <a:ext cx="10109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보완 의견 반영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257508" y="2983706"/>
                <a:ext cx="10109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고객 검토 요청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8431673" y="3898106"/>
                <a:ext cx="6626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승인 기록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8238577" y="4812506"/>
                <a:ext cx="10488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dirty="0">
                    <a:solidFill>
                      <a:srgbClr val="0F243F"/>
                    </a:solidFill>
                    <a:latin typeface="Malgun Gothic"/>
                    <a:ea typeface="Malgun Gothic"/>
                    <a:cs typeface="Malgun Gothic"/>
                  </a:rPr>
                  <a:t>답변·인계 확정</a:t>
                </a:r>
              </a:p>
            </p:txBody>
          </p:sp>
        </p:grpSp>
      </p:grpSp>
      <p:grpSp>
        <p:nvGrpSpPr>
          <p:cNvPr id="96" name="Group 96"/>
          <p:cNvGrpSpPr/>
          <p:nvPr/>
        </p:nvGrpSpPr>
        <p:grpSpPr>
          <a:xfrm>
            <a:off x="317500" y="5743575"/>
            <a:ext cx="9271000" cy="295275"/>
            <a:chOff x="317500" y="5743575"/>
            <a:chExt cx="9271000" cy="295275"/>
          </a:xfrm>
        </p:grpSpPr>
        <p:sp>
          <p:nvSpPr>
            <p:cNvPr id="94" name="Rectangle 94"/>
            <p:cNvSpPr/>
            <p:nvPr/>
          </p:nvSpPr>
          <p:spPr>
            <a:xfrm>
              <a:off x="317500" y="5743575"/>
              <a:ext cx="9271000" cy="2952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61391" y="5830252"/>
              <a:ext cx="4438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공통 관리: 과업 ID · 담당 · 기한 · 근거 위치 · 산출물 · 검토 조건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312737" y="6160770"/>
            <a:ext cx="5055756" cy="176212"/>
            <a:chOff x="312737" y="6160770"/>
            <a:chExt cx="5055756" cy="176212"/>
          </a:xfrm>
        </p:grpSpPr>
        <p:sp>
          <p:nvSpPr>
            <p:cNvPr id="97" name="TextBox 97"/>
            <p:cNvSpPr txBox="1"/>
            <p:nvPr/>
          </p:nvSpPr>
          <p:spPr>
            <a:xfrm>
              <a:off x="312737" y="6160770"/>
              <a:ext cx="50557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이너젠 레퍼런스의 구조·표현 방식만 참조 · 실제 연도·판본·범위는 착수 시 확인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99" name="Rectangle 99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10896" y="6517640"/>
              <a:ext cx="808169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756791" y="6544628"/>
              <a:ext cx="102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CDP · 착수보고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43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2. 수행일정과 보완사항 관리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67443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계획·실적·보완 현황은 같은 과업 ID와 기준일로 관리합니다.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317500" y="1743075"/>
            <a:ext cx="9274175" cy="3105150"/>
            <a:chOff x="317500" y="1743075"/>
            <a:chExt cx="9274175" cy="3105150"/>
          </a:xfrm>
        </p:grpSpPr>
        <p:sp>
          <p:nvSpPr>
            <p:cNvPr id="9" name="Rectangle 9"/>
            <p:cNvSpPr/>
            <p:nvPr/>
          </p:nvSpPr>
          <p:spPr>
            <a:xfrm>
              <a:off x="317500" y="1743075"/>
              <a:ext cx="9271000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1391" y="1915478"/>
              <a:ext cx="3393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기준: W3 종료 · 상대 주차 예시 · 법정기한과 무관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77050" y="1924050"/>
              <a:ext cx="22860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5746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계획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1924050"/>
              <a:ext cx="22860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9566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실적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48141" y="192500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│ 기준일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91" y="245840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4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과업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426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담당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51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상태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333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25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6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08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99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291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W6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17500" y="27051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317500" y="32385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17500" y="37719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17500" y="43053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317500" y="48387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6672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4864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3055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71247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79438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7630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5821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0629" y="28708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1654" y="28708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대상·의무 확인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42616" y="28870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규제 담당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95116" y="2887028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완료*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714875" y="28194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14875" y="2971800"/>
              <a:ext cx="154305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0629" y="34042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1654" y="3404235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적정성 점검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42616" y="34204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담당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95116" y="34204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진행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34025" y="33528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34025" y="3505200"/>
              <a:ext cx="154305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0629" y="39376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1654" y="39376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평가·산정 검토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42616" y="39538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검토 담당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95116" y="3953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72325" y="38862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57738" y="4027170"/>
              <a:ext cx="1245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선행 자료 보완 후 착수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629" y="44710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1654" y="44710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제출·검증 준비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42616" y="44872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총괄 담당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95116" y="44872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예정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10625" y="4419600"/>
              <a:ext cx="72390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757738" y="4560570"/>
              <a:ext cx="12392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승인·제출은 각각 기록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124700" y="26574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0"/>
                  </a:moveTo>
                  <a:lnTo>
                    <a:pt x="0" y="2181225"/>
                  </a:lnTo>
                </a:path>
              </a:pathLst>
            </a:custGeom>
            <a:noFill/>
            <a:ln w="19050">
              <a:solidFill>
                <a:srgbClr val="0F243F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317500" y="5057775"/>
            <a:ext cx="9271000" cy="981075"/>
            <a:chOff x="317500" y="5057775"/>
            <a:chExt cx="9271000" cy="981075"/>
          </a:xfrm>
        </p:grpSpPr>
        <p:sp>
          <p:nvSpPr>
            <p:cNvPr id="64" name="Rectangle 64"/>
            <p:cNvSpPr/>
            <p:nvPr/>
          </p:nvSpPr>
          <p:spPr>
            <a:xfrm>
              <a:off x="317500" y="5057775"/>
              <a:ext cx="9271000" cy="9810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60629" y="5204460"/>
              <a:ext cx="5507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보완관리: 적용 근거 확정 → 누락 자료 보완 → 고객 검토 → 제출 기록 인계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61391" y="5544502"/>
              <a:ext cx="5312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R02 · 자료 담당 · W4 내부 목표 · 미수집 근거 보완 중 / 실제 법정기한: 미확인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61962" y="5808345"/>
              <a:ext cx="4855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* 가상 완료 근거: 대상·의무 검토표 v1 / 실제 사업에는 근거 위치·검토자·완료일을 연결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12737" y="6160770"/>
            <a:ext cx="5273840" cy="176212"/>
            <a:chOff x="312737" y="6160770"/>
            <a:chExt cx="5273840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312737" y="6160770"/>
              <a:ext cx="5273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계획·실적 추적 구조만 제시 · 규제명·관할·기준 판본·기준일·적용 근거는 별도 확정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71" name="Rectangle 71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56791" y="654462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규제 · 중간보고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43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3. 산정방법과 검증자료 인계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69320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시나리오 수식과 모니터링 인자를 검증 근거에 연결해 인계합니다.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17500" y="1743075"/>
            <a:ext cx="6178550" cy="1724025"/>
            <a:chOff x="317500" y="1743075"/>
            <a:chExt cx="6178550" cy="1724025"/>
          </a:xfrm>
        </p:grpSpPr>
        <p:sp>
          <p:nvSpPr>
            <p:cNvPr id="9" name="Rectangle 9"/>
            <p:cNvSpPr/>
            <p:nvPr/>
          </p:nvSpPr>
          <p:spPr>
            <a:xfrm>
              <a:off x="317500" y="1743075"/>
              <a:ext cx="6178550" cy="17240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0121" y="1898015"/>
              <a:ext cx="3072750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가상 산정 구조 · 실제 방법론 확정 전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Equation reduction"/>
                <p:cNvSpPr txBox="1"/>
                <p:nvPr/>
              </p:nvSpPr>
              <p:spPr>
                <a:xfrm>
                  <a:off x="466725" y="2238375"/>
                  <a:ext cx="1975104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ER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PE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LE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>
            <p:sp>
              <p:nvSpPr>
                <p:cNvPr id="11" name="Equation reduction"/>
                <p:cNvSpPr txBox="1"/>
                <p:nvPr/>
              </p:nvSpPr>
              <p:spPr>
                <a:xfrm>
                  <a:off x="466725" y="2238375"/>
                  <a:ext cx="1975104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800" dirty="0">
                      <a:solidFill>
                        <a:srgbClr val="000000"/>
                      </a:solidFill>
                      <a:latin typeface="Cambria Math"/>
                    </a:rPr>
                    <a:t>ER_y = BE_y − PE_y − LE_y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quation baseline"/>
                <p:cNvSpPr txBox="1"/>
                <p:nvPr/>
              </p:nvSpPr>
              <p:spPr>
                <a:xfrm>
                  <a:off x="466725" y="2695575"/>
                  <a:ext cx="1693926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EG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8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BL</m:t>
                            </m:r>
                            <m:r>
                              <a:rPr lang="en-US" altLang="en-US" sz="18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,</m:t>
                            </m:r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>
            <p:sp>
              <p:nvSpPr>
                <p:cNvPr id="12" name="Equation baseline"/>
                <p:cNvSpPr txBox="1"/>
                <p:nvPr/>
              </p:nvSpPr>
              <p:spPr>
                <a:xfrm>
                  <a:off x="466725" y="2695575"/>
                  <a:ext cx="1693926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800" dirty="0">
                      <a:solidFill>
                        <a:srgbClr val="000000"/>
                      </a:solidFill>
                      <a:latin typeface="Cambria Math"/>
                    </a:rPr>
                    <a:t>BE_y = EG_y × EF_(BL,y)</a:t>
                  </a:r>
                </a:p>
              </p:txBody>
            </p:sp>
          </mc:Fallback>
        </mc:AlternateContent>
        <p:sp>
          <p:nvSpPr>
            <p:cNvPr id="13" name="TextBox 13"/>
            <p:cNvSpPr txBox="1"/>
            <p:nvPr/>
          </p:nvSpPr>
          <p:spPr>
            <a:xfrm>
              <a:off x="461391" y="3172778"/>
              <a:ext cx="3841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누출 배출량은 해당성 검토 후 산정 · 임의로 0 처리하지 않음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18046" y="1831340"/>
            <a:ext cx="2864104" cy="1578991"/>
            <a:chOff x="6718046" y="1831340"/>
            <a:chExt cx="2864104" cy="1578991"/>
          </a:xfrm>
        </p:grpSpPr>
        <p:sp>
          <p:nvSpPr>
            <p:cNvPr id="15" name="TextBox 15"/>
            <p:cNvSpPr txBox="1"/>
            <p:nvPr/>
          </p:nvSpPr>
          <p:spPr>
            <a:xfrm>
              <a:off x="6718046" y="1831340"/>
              <a:ext cx="1749705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수행방법 · 인계 순서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724650" y="21050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80479" y="2261235"/>
              <a:ext cx="1581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01 경계·방법론 확정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86575" y="2543175"/>
              <a:ext cx="2695575" cy="9525"/>
            </a:xfrm>
            <a:custGeom>
              <a:avLst/>
              <a:gdLst/>
              <a:ahLst/>
              <a:cxnLst/>
              <a:rect l="l" t="t" r="r" b="b"/>
              <a:pathLst>
                <a:path w="2695575" h="9525">
                  <a:moveTo>
                    <a:pt x="0" y="0"/>
                  </a:moveTo>
                  <a:lnTo>
                    <a:pt x="2695575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80479" y="2718435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02 인자·근거 연결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86575" y="3000375"/>
              <a:ext cx="2695575" cy="9525"/>
            </a:xfrm>
            <a:custGeom>
              <a:avLst/>
              <a:gdLst/>
              <a:ahLst/>
              <a:cxnLst/>
              <a:rect l="l" t="t" r="r" b="b"/>
              <a:pathLst>
                <a:path w="2695575" h="9525">
                  <a:moveTo>
                    <a:pt x="0" y="0"/>
                  </a:moveTo>
                  <a:lnTo>
                    <a:pt x="2695575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0479" y="3175635"/>
              <a:ext cx="1453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03 산정·검토·인계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10896" y="3669665"/>
            <a:ext cx="9277604" cy="2188210"/>
            <a:chOff x="310896" y="3669665"/>
            <a:chExt cx="9277604" cy="2188210"/>
          </a:xfrm>
        </p:grpSpPr>
        <p:sp>
          <p:nvSpPr>
            <p:cNvPr id="23" name="TextBox 23"/>
            <p:cNvSpPr txBox="1"/>
            <p:nvPr/>
          </p:nvSpPr>
          <p:spPr>
            <a:xfrm>
              <a:off x="310896" y="3669665"/>
              <a:ext cx="3752649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모니터링 인자 → 단위 → 자료 출처 → 확인 방법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17500" y="3971925"/>
              <a:ext cx="9271000" cy="314325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1391" y="40776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기호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71066" y="4077652"/>
              <a:ext cx="775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정의 · 단위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38016" y="4077652"/>
              <a:ext cx="1116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출처 · 수집 주기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38366" y="4077652"/>
              <a:ext cx="1359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QA/QC · 확인 조건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317500" y="46767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317500" y="50673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317500" y="545782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17500" y="584835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Equation symbol-eg"/>
                <p:cNvSpPr txBox="1"/>
                <p:nvPr/>
              </p:nvSpPr>
              <p:spPr>
                <a:xfrm>
                  <a:off x="466725" y="437197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EG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33" name="Equation symbol-eg"/>
                <p:cNvSpPr txBox="1"/>
                <p:nvPr/>
              </p:nvSpPr>
              <p:spPr>
                <a:xfrm>
                  <a:off x="466725" y="437197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EG_y</a:t>
                  </a:r>
                </a:p>
              </p:txBody>
            </p:sp>
          </mc:Fallback>
        </mc:AlternateContent>
        <p:sp>
          <p:nvSpPr>
            <p:cNvPr id="34" name="TextBox 34"/>
            <p:cNvSpPr txBox="1"/>
            <p:nvPr/>
          </p:nvSpPr>
          <p:spPr>
            <a:xfrm>
              <a:off x="1671066" y="4420552"/>
              <a:ext cx="1631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순공급 전력량 · MWh/년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38016" y="442055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검침 원장 · 연속/월 집계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38366" y="4420552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거래 기록 대조·계량기 관리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Equation symbol-ef"/>
                <p:cNvSpPr txBox="1"/>
                <p:nvPr/>
              </p:nvSpPr>
              <p:spPr>
                <a:xfrm>
                  <a:off x="466725" y="4762500"/>
                  <a:ext cx="402336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2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BL</m:t>
                            </m:r>
                            <m:r>
                              <a:rPr lang="en-US" altLang="en-US" sz="12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,</m:t>
                            </m:r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37" name="Equation symbol-ef"/>
                <p:cNvSpPr txBox="1"/>
                <p:nvPr/>
              </p:nvSpPr>
              <p:spPr>
                <a:xfrm>
                  <a:off x="466725" y="4762500"/>
                  <a:ext cx="402336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EF_(BL,y)</a:t>
                  </a:r>
                </a:p>
              </p:txBody>
            </p:sp>
          </mc:Fallback>
        </mc:AlternateContent>
        <p:sp>
          <p:nvSpPr>
            <p:cNvPr id="38" name="TextBox 38"/>
            <p:cNvSpPr txBox="1"/>
            <p:nvPr/>
          </p:nvSpPr>
          <p:spPr>
            <a:xfrm>
              <a:off x="1671066" y="4811078"/>
              <a:ext cx="157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배출계수 · tCO₂e/MWh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38016" y="4811078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방법론 지정 출처 · 적용 시 확인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38366" y="4811078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지역·연도·판본·단위 대조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Equation symbol-pe"/>
                <p:cNvSpPr txBox="1"/>
                <p:nvPr/>
              </p:nvSpPr>
              <p:spPr>
                <a:xfrm>
                  <a:off x="466725" y="515302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PE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41" name="Equation symbol-pe"/>
                <p:cNvSpPr txBox="1"/>
                <p:nvPr/>
              </p:nvSpPr>
              <p:spPr>
                <a:xfrm>
                  <a:off x="466725" y="515302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PE_y</a:t>
                  </a:r>
                </a:p>
              </p:txBody>
            </p:sp>
          </mc:Fallback>
        </mc:AlternateContent>
        <p:sp>
          <p:nvSpPr>
            <p:cNvPr id="42" name="TextBox 42"/>
            <p:cNvSpPr txBox="1"/>
            <p:nvPr/>
          </p:nvSpPr>
          <p:spPr>
            <a:xfrm>
              <a:off x="1671066" y="5201602"/>
              <a:ext cx="160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사업 배출량 · tCO₂e/년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38016" y="5201602"/>
              <a:ext cx="1954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사업 활동자료 · 방법론별 설정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38366" y="52016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하위 산정식·원자료 연결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Equation symbol-le"/>
                <p:cNvSpPr txBox="1"/>
                <p:nvPr/>
              </p:nvSpPr>
              <p:spPr>
                <a:xfrm>
                  <a:off x="466725" y="5543550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LE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45" name="Equation symbol-le"/>
                <p:cNvSpPr txBox="1"/>
                <p:nvPr/>
              </p:nvSpPr>
              <p:spPr>
                <a:xfrm>
                  <a:off x="466725" y="5543550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LE_y</a:t>
                  </a:r>
                </a:p>
              </p:txBody>
            </p:sp>
          </mc:Fallback>
        </mc:AlternateContent>
        <p:sp>
          <p:nvSpPr>
            <p:cNvPr id="46" name="TextBox 46"/>
            <p:cNvSpPr txBox="1"/>
            <p:nvPr/>
          </p:nvSpPr>
          <p:spPr>
            <a:xfrm>
              <a:off x="1671066" y="5592128"/>
              <a:ext cx="160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누출 배출량 · tCO₂e/년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38016" y="5592128"/>
              <a:ext cx="1812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해당성 평가 · 방법론별 설정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38366" y="559212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비해당·0 적용의 근거 보존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12737" y="6160770"/>
            <a:ext cx="5249609" cy="176212"/>
            <a:chOff x="312737" y="6160770"/>
            <a:chExt cx="5249609" cy="176212"/>
          </a:xfrm>
        </p:grpSpPr>
        <p:sp>
          <p:nvSpPr>
            <p:cNvPr id="50" name="TextBox 50"/>
            <p:cNvSpPr txBox="1"/>
            <p:nvPr/>
          </p:nvSpPr>
          <p:spPr>
            <a:xfrm>
              <a:off x="312737" y="6160770"/>
              <a:ext cx="5249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y는 산정연도 · 수치·계수 미입력 · 인계물: 산정파일·원자료·검토이력·방법론 판본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52" name="Rectangle 52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56791" y="654462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감축사업 · 최종보고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2026-10-21T09:00:44Z</dcterms:created>
  <dcterms:modified xsi:type="dcterms:W3CDTF">2026-10-21T09:00:44Z</dcterms:modified>
  <cp:category/>
  <cp:contentStatus/>
</cp:coreProperties>
</file>