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9906000" cy="660400"/>
            <a:chOff x="0" y="0"/>
            <a:chExt cx="9906000" cy="660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906000" cy="6604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9906000" cy="657225"/>
            </a:xfrm>
            <a:custGeom>
              <a:avLst/>
              <a:gdLst/>
              <a:ahLst/>
              <a:cxnLst/>
              <a:rect l="l" t="t" r="r" b="b"/>
              <a:pathLst>
                <a:path w="9906000" h="657225">
                  <a:moveTo>
                    <a:pt x="0" y="219075"/>
                  </a:moveTo>
                  <a:lnTo>
                    <a:pt x="9906000" y="219075"/>
                  </a:lnTo>
                  <a:moveTo>
                    <a:pt x="0" y="438150"/>
                  </a:moveTo>
                  <a:lnTo>
                    <a:pt x="9906000" y="438150"/>
                  </a:lnTo>
                  <a:moveTo>
                    <a:pt x="2476500" y="0"/>
                  </a:moveTo>
                  <a:lnTo>
                    <a:pt x="2476500" y="657225"/>
                  </a:lnTo>
                  <a:moveTo>
                    <a:pt x="4953000" y="0"/>
                  </a:moveTo>
                  <a:lnTo>
                    <a:pt x="4953000" y="657225"/>
                  </a:lnTo>
                  <a:moveTo>
                    <a:pt x="7429500" y="0"/>
                  </a:moveTo>
                  <a:lnTo>
                    <a:pt x="7429500" y="657225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05308" y="179070"/>
              <a:ext cx="47737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1. 수행범위와 단계별 추진절차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9118" y="936308"/>
            <a:ext cx="9279382" cy="549592"/>
            <a:chOff x="309118" y="936308"/>
            <a:chExt cx="9279382" cy="549592"/>
          </a:xfrm>
        </p:grpSpPr>
        <p:sp>
          <p:nvSpPr>
            <p:cNvPr id="6" name="TextBox 6"/>
            <p:cNvSpPr txBox="1"/>
            <p:nvPr/>
          </p:nvSpPr>
          <p:spPr>
            <a:xfrm>
              <a:off x="309118" y="936308"/>
              <a:ext cx="8296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CDP 대응은 요구사항 확인부터 답변 확정까지 단계별로 수행할 예정입니다.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17500" y="147637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10896" y="1802765"/>
            <a:ext cx="2146554" cy="3797935"/>
            <a:chOff x="310896" y="1802765"/>
            <a:chExt cx="2146554" cy="3797935"/>
          </a:xfrm>
        </p:grpSpPr>
        <p:sp>
          <p:nvSpPr>
            <p:cNvPr id="9" name="TextBox 9"/>
            <p:cNvSpPr txBox="1"/>
            <p:nvPr/>
          </p:nvSpPr>
          <p:spPr>
            <a:xfrm>
              <a:off x="310896" y="1802765"/>
              <a:ext cx="1327066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수행개요 · 범위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17500" y="2124075"/>
              <a:ext cx="2139950" cy="34766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17500" y="2124075"/>
              <a:ext cx="213995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0629" y="2299335"/>
              <a:ext cx="1521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착수 시 확인할 기준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1962" y="2798445"/>
              <a:ext cx="9121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적용 대상 · 기준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0629" y="3023235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대상 조직: 미확정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629" y="326136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보고 연도: 미확정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629" y="3499485"/>
              <a:ext cx="1740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문항 판본·모듈: 미확정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66725" y="3819525"/>
              <a:ext cx="1838325" cy="9525"/>
            </a:xfrm>
            <a:custGeom>
              <a:avLst/>
              <a:gdLst/>
              <a:ahLst/>
              <a:cxnLst/>
              <a:rect l="l" t="t" r="r" b="b"/>
              <a:pathLst>
                <a:path w="1838325" h="9525">
                  <a:moveTo>
                    <a:pt x="0" y="0"/>
                  </a:moveTo>
                  <a:lnTo>
                    <a:pt x="1838325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1962" y="399859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포함 · 제외 · 협의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629" y="4223385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포함: 진단·답변 지원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629" y="4461510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제외: 평가 결과 보장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0629" y="4699635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협의: 제출 대행 여부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1391" y="5192078"/>
              <a:ext cx="15937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범위 확정 후 일정 구체화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2679446" y="1802765"/>
            <a:ext cx="6902704" cy="3797935"/>
            <a:chOff x="2679446" y="1802765"/>
            <a:chExt cx="6902704" cy="3797935"/>
          </a:xfrm>
        </p:grpSpPr>
        <p:sp>
          <p:nvSpPr>
            <p:cNvPr id="24" name="TextBox 24"/>
            <p:cNvSpPr txBox="1"/>
            <p:nvPr/>
          </p:nvSpPr>
          <p:spPr>
            <a:xfrm>
              <a:off x="2679446" y="1802765"/>
              <a:ext cx="2907370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4단계 추진절차와 단계별 검토 조건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686050" y="2124075"/>
              <a:ext cx="1638300" cy="34766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6860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794254" y="2299335"/>
              <a:ext cx="1318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 요구사항 확인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95588" y="27984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입력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94254" y="29946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당해 문항·기준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95588" y="33127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수행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94254" y="350901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적용 문항 확인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94254" y="37376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요구사항 분해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95588" y="40557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산출물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94254" y="42519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문항·요구 목록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95588" y="4608195"/>
              <a:ext cx="5305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검토 조건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95016" y="4820602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연도·판본·모듈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795016" y="5030152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적용 범위 확인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438650" y="2124075"/>
              <a:ext cx="1638300" cy="34766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44386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46854" y="2299335"/>
              <a:ext cx="979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 근거 수집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48188" y="27984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입력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46854" y="2994660"/>
              <a:ext cx="119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부서별 근거자료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48188" y="33127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수행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46854" y="350901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자료 요청·수집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46854" y="3737610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문항별 근거 연결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48188" y="40557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산출물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546854" y="425196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근거·갭 목록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48188" y="4608195"/>
              <a:ext cx="5305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검토 조건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47616" y="4820602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출처·기간·담당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47616" y="5030152"/>
              <a:ext cx="10849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문항별 대응 확인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191250" y="2124075"/>
              <a:ext cx="1638300" cy="34766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1912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99454" y="2299335"/>
              <a:ext cx="14115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 답변 작성·검토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00788" y="27984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입력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99454" y="299466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근거·갭 목록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00788" y="33127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수행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99454" y="350901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답변 초안 작성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99454" y="373761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주장·근거 검토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00788" y="40557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산출물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99454" y="42519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초안·검토 이력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00788" y="4608195"/>
              <a:ext cx="5305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검토 조건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00216" y="4820602"/>
              <a:ext cx="10849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답변과 증빙 일치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00216" y="5030152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보완 사항 확인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943850" y="2124075"/>
              <a:ext cx="1638300" cy="34766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9438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052054" y="2299335"/>
              <a:ext cx="979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04 고객 확정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53388" y="27984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입력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52054" y="29946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검토 의견·초안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053388" y="33127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수행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052054" y="350901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의견 반영·확정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52054" y="373761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제출 준비·인계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53388" y="40557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산출물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52054" y="425196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확정 답변·인계목록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053388" y="4608195"/>
              <a:ext cx="5305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검토 조건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052816" y="4820602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고객 승인 기록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052816" y="5030152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제출 상태 별도 관리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317500" y="5743575"/>
            <a:ext cx="9271000" cy="295275"/>
            <a:chOff x="317500" y="5743575"/>
            <a:chExt cx="9271000" cy="295275"/>
          </a:xfrm>
        </p:grpSpPr>
        <p:sp>
          <p:nvSpPr>
            <p:cNvPr id="78" name="Rectangle 78"/>
            <p:cNvSpPr/>
            <p:nvPr/>
          </p:nvSpPr>
          <p:spPr>
            <a:xfrm>
              <a:off x="317500" y="5743575"/>
              <a:ext cx="9271000" cy="2952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461391" y="5830252"/>
              <a:ext cx="4438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공통 관리: 과업 ID · 담당 · 기한 · 근거 위치 · 산출물 · 검토 조건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312737" y="6160770"/>
            <a:ext cx="5055756" cy="176212"/>
            <a:chOff x="312737" y="6160770"/>
            <a:chExt cx="5055756" cy="176212"/>
          </a:xfrm>
        </p:grpSpPr>
        <p:sp>
          <p:nvSpPr>
            <p:cNvPr id="81" name="TextBox 81"/>
            <p:cNvSpPr txBox="1"/>
            <p:nvPr/>
          </p:nvSpPr>
          <p:spPr>
            <a:xfrm>
              <a:off x="312737" y="6160770"/>
              <a:ext cx="50557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가상 예시 · 이너젠 레퍼런스의 구조·표현 방식만 참조 · 실제 연도·판본·범위는 착수 시 확인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0" y="6350000"/>
            <a:ext cx="9906000" cy="508000"/>
            <a:chOff x="0" y="6350000"/>
            <a:chExt cx="9906000" cy="508000"/>
          </a:xfrm>
        </p:grpSpPr>
        <p:sp>
          <p:nvSpPr>
            <p:cNvPr id="83" name="Rectangle 83"/>
            <p:cNvSpPr/>
            <p:nvPr/>
          </p:nvSpPr>
          <p:spPr>
            <a:xfrm>
              <a:off x="0" y="6350000"/>
              <a:ext cx="9906000" cy="5080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310896" y="6517640"/>
              <a:ext cx="808171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INNerGEN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756791" y="6544628"/>
              <a:ext cx="1026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CDP · 착수보고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367520" y="6550025"/>
              <a:ext cx="158242" cy="195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0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9906000" cy="660400"/>
            <a:chOff x="0" y="0"/>
            <a:chExt cx="9906000" cy="660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906000" cy="6604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9906000" cy="657225"/>
            </a:xfrm>
            <a:custGeom>
              <a:avLst/>
              <a:gdLst/>
              <a:ahLst/>
              <a:cxnLst/>
              <a:rect l="l" t="t" r="r" b="b"/>
              <a:pathLst>
                <a:path w="9906000" h="657225">
                  <a:moveTo>
                    <a:pt x="0" y="219075"/>
                  </a:moveTo>
                  <a:lnTo>
                    <a:pt x="9906000" y="219075"/>
                  </a:lnTo>
                  <a:moveTo>
                    <a:pt x="0" y="438150"/>
                  </a:moveTo>
                  <a:lnTo>
                    <a:pt x="9906000" y="438150"/>
                  </a:lnTo>
                  <a:moveTo>
                    <a:pt x="2476500" y="0"/>
                  </a:moveTo>
                  <a:lnTo>
                    <a:pt x="2476500" y="657225"/>
                  </a:lnTo>
                  <a:moveTo>
                    <a:pt x="4953000" y="0"/>
                  </a:moveTo>
                  <a:lnTo>
                    <a:pt x="4953000" y="657225"/>
                  </a:lnTo>
                  <a:moveTo>
                    <a:pt x="7429500" y="0"/>
                  </a:moveTo>
                  <a:lnTo>
                    <a:pt x="7429500" y="657225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05308" y="179070"/>
              <a:ext cx="4434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2. 수행일정과 보완사항 관리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9118" y="936308"/>
            <a:ext cx="9279382" cy="549592"/>
            <a:chOff x="309118" y="936308"/>
            <a:chExt cx="9279382" cy="549592"/>
          </a:xfrm>
        </p:grpSpPr>
        <p:sp>
          <p:nvSpPr>
            <p:cNvPr id="6" name="TextBox 6"/>
            <p:cNvSpPr txBox="1"/>
            <p:nvPr/>
          </p:nvSpPr>
          <p:spPr>
            <a:xfrm>
              <a:off x="309118" y="936308"/>
              <a:ext cx="67443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계획·실적·보완 현황은 같은 과업 ID와 기준일로 관리합니다.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17500" y="147637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317500" y="1743075"/>
            <a:ext cx="9274175" cy="3105150"/>
            <a:chOff x="317500" y="1743075"/>
            <a:chExt cx="9274175" cy="3105150"/>
          </a:xfrm>
        </p:grpSpPr>
        <p:sp>
          <p:nvSpPr>
            <p:cNvPr id="9" name="Rectangle 9"/>
            <p:cNvSpPr/>
            <p:nvPr/>
          </p:nvSpPr>
          <p:spPr>
            <a:xfrm>
              <a:off x="317500" y="1743075"/>
              <a:ext cx="9271000" cy="457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1391" y="1915478"/>
              <a:ext cx="3393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기준: W3 종료 · 상대 주차 예시 · 법정기한과 무관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77050" y="1924050"/>
              <a:ext cx="22860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57466" y="19250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계획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15250" y="1924050"/>
              <a:ext cx="228600" cy="762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95666" y="19250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실적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48141" y="192500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│ 기준일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1391" y="2458402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416" y="24584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과업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42616" y="24584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담당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95116" y="24584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상태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3336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251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166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9081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996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2911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W6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17500" y="27051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317500" y="32385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317500" y="37719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17500" y="43053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317500" y="48387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466725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548640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30555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712470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794385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76300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9582150" y="2705100"/>
              <a:ext cx="9525" cy="2133600"/>
            </a:xfrm>
            <a:custGeom>
              <a:avLst/>
              <a:gdLst/>
              <a:ahLst/>
              <a:cxnLst/>
              <a:rect l="l" t="t" r="r" b="b"/>
              <a:pathLst>
                <a:path w="9525"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0629" y="28708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1654" y="2870835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대상·의무 확인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42616" y="28870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규제 담당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95116" y="2887028"/>
              <a:ext cx="3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완료*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714875" y="2819400"/>
              <a:ext cx="154305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714875" y="2971800"/>
              <a:ext cx="1543050" cy="762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0629" y="34042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1654" y="3404235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자료 적정성 점검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42616" y="34204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자료 담당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95116" y="34204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진행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534025" y="3352800"/>
              <a:ext cx="154305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534025" y="3505200"/>
              <a:ext cx="1543050" cy="762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0629" y="39376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1654" y="3937635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평가·산정 검토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642616" y="39538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검토 담당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95116" y="3953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대기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72325" y="3886200"/>
              <a:ext cx="154305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757738" y="4027170"/>
              <a:ext cx="1245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선행 자료 보완 후 착수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0629" y="44710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1654" y="4471035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제출·검증 준비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42616" y="44872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총괄 담당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95116" y="44872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예정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810625" y="4419600"/>
              <a:ext cx="72390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757738" y="4560570"/>
              <a:ext cx="12392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승인·제출은 각각 기록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7124700" y="2657475"/>
              <a:ext cx="9525" cy="2181225"/>
            </a:xfrm>
            <a:custGeom>
              <a:avLst/>
              <a:gdLst/>
              <a:ahLst/>
              <a:cxnLst/>
              <a:rect l="l" t="t" r="r" b="b"/>
              <a:pathLst>
                <a:path w="9525" h="2181225">
                  <a:moveTo>
                    <a:pt x="0" y="0"/>
                  </a:moveTo>
                  <a:lnTo>
                    <a:pt x="0" y="2181225"/>
                  </a:lnTo>
                </a:path>
              </a:pathLst>
            </a:custGeom>
            <a:noFill/>
            <a:ln w="19050">
              <a:solidFill>
                <a:srgbClr val="0F243F"/>
              </a:solidFill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317500" y="5057775"/>
            <a:ext cx="9271000" cy="981075"/>
            <a:chOff x="317500" y="5057775"/>
            <a:chExt cx="9271000" cy="981075"/>
          </a:xfrm>
        </p:grpSpPr>
        <p:sp>
          <p:nvSpPr>
            <p:cNvPr id="64" name="Rectangle 64"/>
            <p:cNvSpPr/>
            <p:nvPr/>
          </p:nvSpPr>
          <p:spPr>
            <a:xfrm>
              <a:off x="317500" y="5057775"/>
              <a:ext cx="9271000" cy="9810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60629" y="5204460"/>
              <a:ext cx="5507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보완관리: 적용 근거 확정 → 누락 자료 보완 → 고객 검토 → 제출 기록 인계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61391" y="5544502"/>
              <a:ext cx="5312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R02 · 자료 담당 · W4 내부 목표 · 미수집 근거 보완 중 / 실제 법정기한: 미확인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61962" y="5808345"/>
              <a:ext cx="48558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* 가상 완료 근거: 대상·의무 검토표 v1 / 실제 사업에는 근거 위치·검토자·완료일을 연결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12737" y="6160770"/>
            <a:ext cx="5273840" cy="176212"/>
            <a:chOff x="312737" y="6160770"/>
            <a:chExt cx="5273840" cy="176212"/>
          </a:xfrm>
        </p:grpSpPr>
        <p:sp>
          <p:nvSpPr>
            <p:cNvPr id="69" name="TextBox 69"/>
            <p:cNvSpPr txBox="1"/>
            <p:nvPr/>
          </p:nvSpPr>
          <p:spPr>
            <a:xfrm>
              <a:off x="312737" y="6160770"/>
              <a:ext cx="52738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가상 예시 · 계획·실적 추적 구조만 제시 · 규제명·관할·기준 판본·기준일·적용 근거는 별도 확정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0" y="6350000"/>
            <a:ext cx="9906000" cy="508000"/>
            <a:chOff x="0" y="6350000"/>
            <a:chExt cx="9906000" cy="508000"/>
          </a:xfrm>
        </p:grpSpPr>
        <p:sp>
          <p:nvSpPr>
            <p:cNvPr id="71" name="Rectangle 71"/>
            <p:cNvSpPr/>
            <p:nvPr/>
          </p:nvSpPr>
          <p:spPr>
            <a:xfrm>
              <a:off x="0" y="6350000"/>
              <a:ext cx="9906000" cy="5080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10896" y="6517640"/>
              <a:ext cx="808171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INNerGEN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756791" y="654462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규제 · 중간보고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367520" y="6550025"/>
              <a:ext cx="158242" cy="195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0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9906000" cy="660400"/>
            <a:chOff x="0" y="0"/>
            <a:chExt cx="9906000" cy="660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906000" cy="6604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9906000" cy="657225"/>
            </a:xfrm>
            <a:custGeom>
              <a:avLst/>
              <a:gdLst/>
              <a:ahLst/>
              <a:cxnLst/>
              <a:rect l="l" t="t" r="r" b="b"/>
              <a:pathLst>
                <a:path w="9906000" h="657225">
                  <a:moveTo>
                    <a:pt x="0" y="219075"/>
                  </a:moveTo>
                  <a:lnTo>
                    <a:pt x="9906000" y="219075"/>
                  </a:lnTo>
                  <a:moveTo>
                    <a:pt x="0" y="438150"/>
                  </a:moveTo>
                  <a:lnTo>
                    <a:pt x="9906000" y="438150"/>
                  </a:lnTo>
                  <a:moveTo>
                    <a:pt x="2476500" y="0"/>
                  </a:moveTo>
                  <a:lnTo>
                    <a:pt x="2476500" y="657225"/>
                  </a:lnTo>
                  <a:moveTo>
                    <a:pt x="4953000" y="0"/>
                  </a:moveTo>
                  <a:lnTo>
                    <a:pt x="4953000" y="657225"/>
                  </a:lnTo>
                  <a:moveTo>
                    <a:pt x="7429500" y="0"/>
                  </a:moveTo>
                  <a:lnTo>
                    <a:pt x="7429500" y="657225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05308" y="179070"/>
              <a:ext cx="4434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3. 산정방법과 검증자료 인계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9118" y="936308"/>
            <a:ext cx="9279382" cy="549592"/>
            <a:chOff x="309118" y="936308"/>
            <a:chExt cx="9279382" cy="549592"/>
          </a:xfrm>
        </p:grpSpPr>
        <p:sp>
          <p:nvSpPr>
            <p:cNvPr id="6" name="TextBox 6"/>
            <p:cNvSpPr txBox="1"/>
            <p:nvPr/>
          </p:nvSpPr>
          <p:spPr>
            <a:xfrm>
              <a:off x="309118" y="936308"/>
              <a:ext cx="69320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시나리오 수식과 모니터링 인자를 검증 근거에 연결해 인계합니다.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17500" y="147637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17500" y="1743075"/>
            <a:ext cx="6178550" cy="1724025"/>
            <a:chOff x="317500" y="1743075"/>
            <a:chExt cx="6178550" cy="1724025"/>
          </a:xfrm>
        </p:grpSpPr>
        <p:sp>
          <p:nvSpPr>
            <p:cNvPr id="9" name="Rectangle 9"/>
            <p:cNvSpPr/>
            <p:nvPr/>
          </p:nvSpPr>
          <p:spPr>
            <a:xfrm>
              <a:off x="317500" y="1743075"/>
              <a:ext cx="6178550" cy="17240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0121" y="1898015"/>
              <a:ext cx="3072750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가상 산정 구조 · 실제 방법론 확정 전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Equation reduction"/>
                <p:cNvSpPr txBox="1"/>
                <p:nvPr/>
              </p:nvSpPr>
              <p:spPr>
                <a:xfrm>
                  <a:off x="466725" y="2238375"/>
                  <a:ext cx="1975104" cy="3857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ER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BE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PE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LE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>
            <p:sp>
              <p:nvSpPr>
                <p:cNvPr id="11" name="Equation reduction"/>
                <p:cNvSpPr txBox="1"/>
                <p:nvPr/>
              </p:nvSpPr>
              <p:spPr>
                <a:xfrm>
                  <a:off x="466725" y="2238375"/>
                  <a:ext cx="1975104" cy="3857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800" dirty="0">
                      <a:solidFill>
                        <a:srgbClr val="000000"/>
                      </a:solidFill>
                      <a:latin typeface="Cambria Math"/>
                    </a:rPr>
                    <a:t>ER_y = BE_y − PE_y − LE_y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Equation baseline"/>
                <p:cNvSpPr txBox="1"/>
                <p:nvPr/>
              </p:nvSpPr>
              <p:spPr>
                <a:xfrm>
                  <a:off x="466725" y="2695575"/>
                  <a:ext cx="1693926" cy="3857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BE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EG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×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EF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18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BL</m:t>
                            </m:r>
                            <m:r>
                              <a:rPr lang="en-US" altLang="en-US" sz="18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,</m:t>
                            </m:r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>
            <p:sp>
              <p:nvSpPr>
                <p:cNvPr id="12" name="Equation baseline"/>
                <p:cNvSpPr txBox="1"/>
                <p:nvPr/>
              </p:nvSpPr>
              <p:spPr>
                <a:xfrm>
                  <a:off x="466725" y="2695575"/>
                  <a:ext cx="1693926" cy="3857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800" dirty="0">
                      <a:solidFill>
                        <a:srgbClr val="000000"/>
                      </a:solidFill>
                      <a:latin typeface="Cambria Math"/>
                    </a:rPr>
                    <a:t>BE_y = EG_y × EF_(BL,y)</a:t>
                  </a:r>
                </a:p>
              </p:txBody>
            </p:sp>
          </mc:Fallback>
        </mc:AlternateContent>
        <p:sp>
          <p:nvSpPr>
            <p:cNvPr id="13" name="TextBox 13"/>
            <p:cNvSpPr txBox="1"/>
            <p:nvPr/>
          </p:nvSpPr>
          <p:spPr>
            <a:xfrm>
              <a:off x="461391" y="3172778"/>
              <a:ext cx="38412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누출 배출량은 해당성 검토 후 산정 · 임의로 0 처리하지 않음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18046" y="1831340"/>
            <a:ext cx="2864104" cy="1527747"/>
            <a:chOff x="6718046" y="1831340"/>
            <a:chExt cx="2864104" cy="1527747"/>
          </a:xfrm>
        </p:grpSpPr>
        <p:sp>
          <p:nvSpPr>
            <p:cNvPr id="15" name="TextBox 15"/>
            <p:cNvSpPr txBox="1"/>
            <p:nvPr/>
          </p:nvSpPr>
          <p:spPr>
            <a:xfrm>
              <a:off x="6718046" y="1831340"/>
              <a:ext cx="1749705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수행방법 · 인계 순서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724650" y="21050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80479" y="2232660"/>
              <a:ext cx="1506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01 경계·방법론 확정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81241" y="2553652"/>
              <a:ext cx="16644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적용 조건·판본·기간 기록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80479" y="2832735"/>
              <a:ext cx="1344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02 인자·근거 연결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81241" y="3153728"/>
              <a:ext cx="1212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03 산정·검토·인계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10896" y="3669665"/>
            <a:ext cx="9277604" cy="2188210"/>
            <a:chOff x="310896" y="3669665"/>
            <a:chExt cx="9277604" cy="2188210"/>
          </a:xfrm>
        </p:grpSpPr>
        <p:sp>
          <p:nvSpPr>
            <p:cNvPr id="22" name="TextBox 22"/>
            <p:cNvSpPr txBox="1"/>
            <p:nvPr/>
          </p:nvSpPr>
          <p:spPr>
            <a:xfrm>
              <a:off x="310896" y="3669665"/>
              <a:ext cx="3752649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모니터링 인자 → 단위 → 자료 출처 → 확인 방법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17500" y="3971925"/>
              <a:ext cx="9271000" cy="314325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1391" y="40776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기호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71066" y="4077652"/>
              <a:ext cx="7750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정의 · 단위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38016" y="4077652"/>
              <a:ext cx="1116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출처 · 수집 주기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38366" y="4077652"/>
              <a:ext cx="13593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QA/QC · 확인 조건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317500" y="467677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17500" y="506730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317500" y="545782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317500" y="5848350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Equation symbol-eg"/>
                <p:cNvSpPr txBox="1"/>
                <p:nvPr/>
              </p:nvSpPr>
              <p:spPr>
                <a:xfrm>
                  <a:off x="466725" y="437197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EG</m:t>
                            </m:r>
                          </m:e>
                          <m:sub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32" name="Equation symbol-eg"/>
                <p:cNvSpPr txBox="1"/>
                <p:nvPr/>
              </p:nvSpPr>
              <p:spPr>
                <a:xfrm>
                  <a:off x="466725" y="437197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EG_y</a:t>
                  </a:r>
                </a:p>
              </p:txBody>
            </p:sp>
          </mc:Fallback>
        </mc:AlternateContent>
        <p:sp>
          <p:nvSpPr>
            <p:cNvPr id="33" name="TextBox 33"/>
            <p:cNvSpPr txBox="1"/>
            <p:nvPr/>
          </p:nvSpPr>
          <p:spPr>
            <a:xfrm>
              <a:off x="1671066" y="4420552"/>
              <a:ext cx="1631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순공급 전력량 · MWh/년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38016" y="4420552"/>
              <a:ext cx="1607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검침 원장 · 연속/월 집계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38366" y="4420552"/>
              <a:ext cx="1770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거래 기록 대조·계량기 관리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Equation symbol-ef"/>
                <p:cNvSpPr txBox="1"/>
                <p:nvPr/>
              </p:nvSpPr>
              <p:spPr>
                <a:xfrm>
                  <a:off x="466725" y="4762500"/>
                  <a:ext cx="402336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EF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12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BL</m:t>
                            </m:r>
                            <m:r>
                              <a:rPr lang="en-US" altLang="en-US" sz="12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,</m:t>
                            </m:r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36" name="Equation symbol-ef"/>
                <p:cNvSpPr txBox="1"/>
                <p:nvPr/>
              </p:nvSpPr>
              <p:spPr>
                <a:xfrm>
                  <a:off x="466725" y="4762500"/>
                  <a:ext cx="402336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EF_(BL,y)</a:t>
                  </a:r>
                </a:p>
              </p:txBody>
            </p:sp>
          </mc:Fallback>
        </mc:AlternateContent>
        <p:sp>
          <p:nvSpPr>
            <p:cNvPr id="37" name="TextBox 37"/>
            <p:cNvSpPr txBox="1"/>
            <p:nvPr/>
          </p:nvSpPr>
          <p:spPr>
            <a:xfrm>
              <a:off x="1671066" y="4811078"/>
              <a:ext cx="1572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배출계수 · tCO₂e/MWh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38016" y="4811078"/>
              <a:ext cx="20390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방법론 지정 출처 · 적용 시 확인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38366" y="4811078"/>
              <a:ext cx="1699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지역·연도·판본·단위 대조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Equation symbol-pe"/>
                <p:cNvSpPr txBox="1"/>
                <p:nvPr/>
              </p:nvSpPr>
              <p:spPr>
                <a:xfrm>
                  <a:off x="466725" y="515302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PE</m:t>
                            </m:r>
                          </m:e>
                          <m:sub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40" name="Equation symbol-pe"/>
                <p:cNvSpPr txBox="1"/>
                <p:nvPr/>
              </p:nvSpPr>
              <p:spPr>
                <a:xfrm>
                  <a:off x="466725" y="515302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PE_y</a:t>
                  </a:r>
                </a:p>
              </p:txBody>
            </p:sp>
          </mc:Fallback>
        </mc:AlternateContent>
        <p:sp>
          <p:nvSpPr>
            <p:cNvPr id="41" name="TextBox 41"/>
            <p:cNvSpPr txBox="1"/>
            <p:nvPr/>
          </p:nvSpPr>
          <p:spPr>
            <a:xfrm>
              <a:off x="1671066" y="5201602"/>
              <a:ext cx="1602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사업 배출량 · tCO₂e/년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38016" y="5201602"/>
              <a:ext cx="1954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사업 활동자료 · 방법론별 설정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38366" y="520160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하위 산정식·원자료 연결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Equation symbol-le"/>
                <p:cNvSpPr txBox="1"/>
                <p:nvPr/>
              </p:nvSpPr>
              <p:spPr>
                <a:xfrm>
                  <a:off x="466725" y="5543550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LE</m:t>
                            </m:r>
                          </m:e>
                          <m:sub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44" name="Equation symbol-le"/>
                <p:cNvSpPr txBox="1"/>
                <p:nvPr/>
              </p:nvSpPr>
              <p:spPr>
                <a:xfrm>
                  <a:off x="466725" y="5543550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LE_y</a:t>
                  </a:r>
                </a:p>
              </p:txBody>
            </p:sp>
          </mc:Fallback>
        </mc:AlternateContent>
        <p:sp>
          <p:nvSpPr>
            <p:cNvPr id="45" name="TextBox 45"/>
            <p:cNvSpPr txBox="1"/>
            <p:nvPr/>
          </p:nvSpPr>
          <p:spPr>
            <a:xfrm>
              <a:off x="1671066" y="5592128"/>
              <a:ext cx="1602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누출 배출량 · tCO₂e/년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38016" y="5592128"/>
              <a:ext cx="18128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해당성 평가 · 방법론별 설정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38366" y="559212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비해당·0 적용의 근거 보존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12737" y="6160770"/>
            <a:ext cx="5249609" cy="176212"/>
            <a:chOff x="312737" y="6160770"/>
            <a:chExt cx="5249609" cy="176212"/>
          </a:xfrm>
        </p:grpSpPr>
        <p:sp>
          <p:nvSpPr>
            <p:cNvPr id="49" name="TextBox 49"/>
            <p:cNvSpPr txBox="1"/>
            <p:nvPr/>
          </p:nvSpPr>
          <p:spPr>
            <a:xfrm>
              <a:off x="312737" y="6160770"/>
              <a:ext cx="52496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가상 예시 · y는 산정연도 · 수치·계수 미입력 · 인계물: 산정파일·원자료·검토이력·방법론 판본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0" y="6350000"/>
            <a:ext cx="9906000" cy="508000"/>
            <a:chOff x="0" y="6350000"/>
            <a:chExt cx="9906000" cy="508000"/>
          </a:xfrm>
        </p:grpSpPr>
        <p:sp>
          <p:nvSpPr>
            <p:cNvPr id="51" name="Rectangle 51"/>
            <p:cNvSpPr/>
            <p:nvPr/>
          </p:nvSpPr>
          <p:spPr>
            <a:xfrm>
              <a:off x="0" y="6350000"/>
              <a:ext cx="9906000" cy="5080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10896" y="6517640"/>
              <a:ext cx="808171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INNerGEN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756791" y="654462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감축사업 · 최종보고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67520" y="6550025"/>
              <a:ext cx="158242" cy="195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0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2026-10-21T07:40:32Z</dcterms:created>
  <dcterms:modified xsi:type="dcterms:W3CDTF">2026-10-21T07:40:32Z</dcterms:modified>
  <cp:category/>
  <cp:contentStatus/>
</cp:coreProperties>
</file>