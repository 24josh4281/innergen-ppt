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7737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1. 수행범위와 단계별 추진절차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8296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CDP 대응은 요구사항 확인부터 답변 확정까지 단계별로 수행할 예정입니다.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10896" y="1802765"/>
            <a:ext cx="2146554" cy="3797935"/>
            <a:chOff x="310896" y="1802765"/>
            <a:chExt cx="2146554" cy="3797935"/>
          </a:xfrm>
        </p:grpSpPr>
        <p:sp>
          <p:nvSpPr>
            <p:cNvPr id="9" name="TextBox 9"/>
            <p:cNvSpPr txBox="1"/>
            <p:nvPr/>
          </p:nvSpPr>
          <p:spPr>
            <a:xfrm>
              <a:off x="310896" y="1802765"/>
              <a:ext cx="1327066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수행개요 · 범위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17500" y="2124075"/>
              <a:ext cx="2139950" cy="3476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7500" y="2124075"/>
              <a:ext cx="213995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0629" y="2299335"/>
              <a:ext cx="1521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착수 시 확인할 기준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962" y="2798445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적용 대상 · 기준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629" y="302323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대상 조직: 미확정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629" y="32613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보고 연도: 미확정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629" y="3499485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 판본·모듈: 미확정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66725" y="3819525"/>
              <a:ext cx="1838325" cy="9525"/>
            </a:xfrm>
            <a:custGeom>
              <a:avLst/>
              <a:gdLst/>
              <a:ahLst/>
              <a:cxnLst/>
              <a:rect l="l" t="t" r="r" b="b"/>
              <a:pathLst>
                <a:path w="1838325" h="9525">
                  <a:moveTo>
                    <a:pt x="0" y="0"/>
                  </a:moveTo>
                  <a:lnTo>
                    <a:pt x="1838325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1962" y="39985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포함 · 제외 · 협의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629" y="422338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포함: 진단·답변 지원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629" y="44615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제외: 평가 결과 보장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629" y="4699635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협의: 제출 대행 여부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1391" y="5192078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범위 확정 후 일정 구체화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2679446" y="1802765"/>
            <a:ext cx="6902704" cy="3797935"/>
            <a:chOff x="2679446" y="1802765"/>
            <a:chExt cx="6902704" cy="3797935"/>
          </a:xfrm>
        </p:grpSpPr>
        <p:sp>
          <p:nvSpPr>
            <p:cNvPr id="24" name="TextBox 24"/>
            <p:cNvSpPr txBox="1"/>
            <p:nvPr/>
          </p:nvSpPr>
          <p:spPr>
            <a:xfrm>
              <a:off x="2679446" y="1802765"/>
              <a:ext cx="2907370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4단계 추진절차와 단계별 검토 조건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860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860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94254" y="2299335"/>
              <a:ext cx="1318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 요구사항 확인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5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4254" y="2994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당해 문항·기준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5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4254" y="35090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적용 문항 확인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94254" y="37376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요구사항 분해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955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42519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문항·요구 목록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955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95016" y="482060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연도·판본·모듈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95016" y="503015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적용 범위 확인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4386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386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468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 근거 수집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481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46854" y="299466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부서별 근거자료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481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46854" y="35090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요청·수집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46854" y="373761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문항별 근거 연결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481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46854" y="42519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근거·갭 목록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481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47616" y="482060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출처·기간·담당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47616" y="5030152"/>
              <a:ext cx="108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문항별 대응 확인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1912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1912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99454" y="2299335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 답변 작성·검토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007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99454" y="29946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근거·갭 목록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007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99454" y="35090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답변 초안 작성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99454" y="37376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주장·근거 검토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007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99454" y="42519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초안·검토 이력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007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00216" y="4820602"/>
              <a:ext cx="108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답변과 증빙 일치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00216" y="503015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보완 사항 확인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438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9438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0520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 고객 확정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533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52054" y="2994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검토 의견·초안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533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52054" y="35090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의견 반영·확정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52054" y="37376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 준비·인계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533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52054" y="42519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확정 답변·인계목록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533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052816" y="482060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고객 승인 기록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052816" y="503015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 상태 별도 관리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17500" y="5743575"/>
            <a:ext cx="9271000" cy="295275"/>
            <a:chOff x="317500" y="5743575"/>
            <a:chExt cx="9271000" cy="295275"/>
          </a:xfrm>
        </p:grpSpPr>
        <p:sp>
          <p:nvSpPr>
            <p:cNvPr id="78" name="Rectangle 78"/>
            <p:cNvSpPr/>
            <p:nvPr/>
          </p:nvSpPr>
          <p:spPr>
            <a:xfrm>
              <a:off x="317500" y="5743575"/>
              <a:ext cx="9271000" cy="2952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61391" y="5830252"/>
              <a:ext cx="4438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공통 관리: 과업 ID · 담당 · 기한 · 근거 위치 · 산출물 · 검토 조건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12737" y="6160770"/>
            <a:ext cx="5055756" cy="176212"/>
            <a:chOff x="312737" y="6160770"/>
            <a:chExt cx="5055756" cy="176212"/>
          </a:xfrm>
        </p:grpSpPr>
        <p:sp>
          <p:nvSpPr>
            <p:cNvPr id="81" name="TextBox 81"/>
            <p:cNvSpPr txBox="1"/>
            <p:nvPr/>
          </p:nvSpPr>
          <p:spPr>
            <a:xfrm>
              <a:off x="312737" y="6160770"/>
              <a:ext cx="50557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이너젠 레퍼런스의 구조·표현 방식만 참조 · 실제 연도·판본·범위는 착수 시 확인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83" name="Rectangle 83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756791" y="6544628"/>
              <a:ext cx="102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CDP · 착수보고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2. 수행일정과 보완사항 관리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7443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계획·실적·보완 현황은 같은 과업 ID와 기준일로 관리합니다.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317500" y="1743075"/>
            <a:ext cx="9274175" cy="3105150"/>
            <a:chOff x="317500" y="1743075"/>
            <a:chExt cx="9274175" cy="3105150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9271000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1391" y="1915478"/>
              <a:ext cx="3393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기준: W3 종료 · 상대 주차 예시 · 법정기한과 무관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77050" y="1924050"/>
              <a:ext cx="2286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574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계획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1924050"/>
              <a:ext cx="22860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56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실적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8141" y="192500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│ 기준일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91" y="245840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4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과업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426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담당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51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상태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333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25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6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08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99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291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W6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17500" y="27051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317500" y="32385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17500" y="37719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17500" y="43053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317500" y="48387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6672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4864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3055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71247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9438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7630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5821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0629" y="28708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1654" y="28708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대상·의무 확인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42616" y="28870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규제 담당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95116" y="2887028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완료*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14875" y="28194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14875" y="29718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0629" y="34042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1654" y="3404235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적정성 점검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42616" y="34204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담당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95116" y="34204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진행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34025" y="33528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34025" y="35052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0629" y="39376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654" y="39376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평가·산정 검토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42616" y="39538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검토 담당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95116" y="3953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72325" y="38862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57738" y="4027170"/>
              <a:ext cx="1245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선행 자료 보완 후 착수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629" y="44710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1654" y="44710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제출·검증 준비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42616" y="44872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총괄 담당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95116" y="44872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예정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10625" y="4419600"/>
              <a:ext cx="7239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757738" y="4560570"/>
              <a:ext cx="12392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승인·제출은 각각 기록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124700" y="26574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0"/>
                  </a:moveTo>
                  <a:lnTo>
                    <a:pt x="0" y="2181225"/>
                  </a:lnTo>
                </a:path>
              </a:pathLst>
            </a:custGeom>
            <a:noFill/>
            <a:ln w="19050">
              <a:solidFill>
                <a:srgbClr val="0F243F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317500" y="5057775"/>
            <a:ext cx="9271000" cy="981075"/>
            <a:chOff x="317500" y="5057775"/>
            <a:chExt cx="9271000" cy="981075"/>
          </a:xfrm>
        </p:grpSpPr>
        <p:sp>
          <p:nvSpPr>
            <p:cNvPr id="64" name="Rectangle 64"/>
            <p:cNvSpPr/>
            <p:nvPr/>
          </p:nvSpPr>
          <p:spPr>
            <a:xfrm>
              <a:off x="317500" y="5057775"/>
              <a:ext cx="9271000" cy="9810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0629" y="5204460"/>
              <a:ext cx="5507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보완관리: 적용 근거 확정 → 누락 자료 보완 → 고객 검토 → 제출 기록 인계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61391" y="5544502"/>
              <a:ext cx="5312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 · 자료 담당 · W4 내부 목표 · 미수집 근거 보완 중 / 실제 법정기한: 미확인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61962" y="5808345"/>
              <a:ext cx="4855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* 가상 완료 근거: 대상·의무 검토표 v1 / 실제 사업에는 근거 위치·검토자·완료일을 연결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12737" y="6160770"/>
            <a:ext cx="5273840" cy="176212"/>
            <a:chOff x="312737" y="6160770"/>
            <a:chExt cx="5273840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312737" y="6160770"/>
              <a:ext cx="5273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계획·실적 추적 구조만 제시 · 규제명·관할·기준 판본·기준일·적용 근거는 별도 확정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71" name="Rectangle 71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56791" y="654462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규제 · 중간보고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3. 산정방법과 검증자료 인계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9320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시나리오 수식과 모니터링 인자를 검증 근거에 연결해 인계합니다.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7500" y="1743075"/>
            <a:ext cx="6178550" cy="1724025"/>
            <a:chOff x="317500" y="1743075"/>
            <a:chExt cx="6178550" cy="1724025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6178550" cy="17240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0121" y="1898015"/>
              <a:ext cx="3072750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가상 산정 구조 · 실제 방법론 확정 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Equation reduction"/>
                <p:cNvSpPr txBox="1"/>
                <p:nvPr/>
              </p:nvSpPr>
              <p:spPr>
                <a:xfrm>
                  <a:off x="466725" y="2238375"/>
                  <a:ext cx="2245166" cy="2989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altLang="ko-KR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/>
                            <a:cs typeface="Cambria Math"/>
                          </a:rPr>
                          <m:t>𝑄</m:t>
                        </m:r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𝐵𝐸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𝑃𝐸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𝐿𝐸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11" name="Equation reduc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725" y="2238375"/>
                  <a:ext cx="2245166" cy="298928"/>
                </a:xfrm>
                <a:prstGeom prst="rect">
                  <a:avLst/>
                </a:prstGeom>
                <a:blipFill>
                  <a:blip r:embed="rId2"/>
                  <a:stretch>
                    <a:fillRect l="-4620" b="-2244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𝐵𝐸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𝐸𝐺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𝐸𝐹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800" dirty="0">
                      <a:solidFill>
                        <a:srgbClr val="000000"/>
                      </a:solidFill>
                      <a:latin typeface="Cambria Math"/>
                    </a:rPr>
                    <a:t>BE_y = EG_y × EF_(BL,y)</a:t>
                  </a:r>
                </a:p>
              </p:txBody>
            </p:sp>
          </mc:Fallback>
        </mc:AlternateContent>
        <p:sp>
          <p:nvSpPr>
            <p:cNvPr id="13" name="TextBox 13"/>
            <p:cNvSpPr txBox="1"/>
            <p:nvPr/>
          </p:nvSpPr>
          <p:spPr>
            <a:xfrm>
              <a:off x="461391" y="3172778"/>
              <a:ext cx="3841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누출 배출량은 해당성 검토 후 산정 · 임의로 0 처리하지 않음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18046" y="1831340"/>
            <a:ext cx="2864104" cy="1527747"/>
            <a:chOff x="6718046" y="1831340"/>
            <a:chExt cx="2864104" cy="1527747"/>
          </a:xfrm>
        </p:grpSpPr>
        <p:sp>
          <p:nvSpPr>
            <p:cNvPr id="15" name="TextBox 15"/>
            <p:cNvSpPr txBox="1"/>
            <p:nvPr/>
          </p:nvSpPr>
          <p:spPr>
            <a:xfrm>
              <a:off x="6718046" y="1831340"/>
              <a:ext cx="1749705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수행방법 · 인계 순서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724650" y="21050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80479" y="223266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01 경계·방법론 확정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81241" y="2553652"/>
              <a:ext cx="1664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적용 조건·판본·기간 기록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0479" y="283273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02 인자·근거 연결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81241" y="3153728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03 산정·검토·인계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0896" y="3669665"/>
            <a:ext cx="9277604" cy="2188210"/>
            <a:chOff x="310896" y="3669665"/>
            <a:chExt cx="9277604" cy="2188210"/>
          </a:xfrm>
        </p:grpSpPr>
        <p:sp>
          <p:nvSpPr>
            <p:cNvPr id="22" name="TextBox 22"/>
            <p:cNvSpPr txBox="1"/>
            <p:nvPr/>
          </p:nvSpPr>
          <p:spPr>
            <a:xfrm>
              <a:off x="310896" y="3669665"/>
              <a:ext cx="3752649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모니터링 인자 → 단위 → 자료 출처 → 확인 방법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17500" y="3971925"/>
              <a:ext cx="9271000" cy="314325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1391" y="40776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기호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71066" y="4077652"/>
              <a:ext cx="77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정의 · 단위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38016" y="4077652"/>
              <a:ext cx="1116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출처 · 수집 주기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8366" y="4077652"/>
              <a:ext cx="1359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QA/QC · 확인 조건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17500" y="46767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317500" y="50673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317500" y="545782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Line 31"/>
            <p:cNvSpPr/>
            <p:nvPr/>
          </p:nvSpPr>
          <p:spPr>
            <a:xfrm>
              <a:off x="317500" y="584835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𝐸𝐺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EG_y</a:t>
                  </a:r>
                </a:p>
              </p:txBody>
            </p:sp>
          </mc:Fallback>
        </mc:AlternateContent>
        <p:sp>
          <p:nvSpPr>
            <p:cNvPr id="33" name="TextBox 33"/>
            <p:cNvSpPr txBox="1"/>
            <p:nvPr/>
          </p:nvSpPr>
          <p:spPr>
            <a:xfrm>
              <a:off x="1671066" y="4420552"/>
              <a:ext cx="1631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순공급 전력량 · MWh/년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38016" y="442055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검침 원장 · 연속/월 집계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38366" y="442055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거래 기록 대조·계량기 관리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𝐸𝐹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6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EF_(BL,y)</a:t>
                  </a:r>
                </a:p>
              </p:txBody>
            </p:sp>
          </mc:Fallback>
        </mc:AlternateContent>
        <p:sp>
          <p:nvSpPr>
            <p:cNvPr id="37" name="TextBox 37"/>
            <p:cNvSpPr txBox="1"/>
            <p:nvPr/>
          </p:nvSpPr>
          <p:spPr>
            <a:xfrm>
              <a:off x="1671066" y="4811078"/>
              <a:ext cx="157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배출계수 · tCO₂e/MWh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38016" y="4811078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방법론 지정 출처 · 적용 시 확인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38366" y="4811078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지역·연도·판본·단위 대조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𝑃𝐸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0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PE_y</a:t>
                  </a:r>
                </a:p>
              </p:txBody>
            </p:sp>
          </mc:Fallback>
        </mc:AlternateContent>
        <p:sp>
          <p:nvSpPr>
            <p:cNvPr id="41" name="TextBox 41"/>
            <p:cNvSpPr txBox="1"/>
            <p:nvPr/>
          </p:nvSpPr>
          <p:spPr>
            <a:xfrm>
              <a:off x="1671066" y="5201602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배출량 · tCO₂e/년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38016" y="5201602"/>
              <a:ext cx="1954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활동자료 · 방법론별 설정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8366" y="52016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하위 산정식·원자료 연결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𝐿𝐸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4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LE_y</a:t>
                  </a:r>
                </a:p>
              </p:txBody>
            </p:sp>
          </mc:Fallback>
        </mc:AlternateContent>
        <p:sp>
          <p:nvSpPr>
            <p:cNvPr id="45" name="TextBox 45"/>
            <p:cNvSpPr txBox="1"/>
            <p:nvPr/>
          </p:nvSpPr>
          <p:spPr>
            <a:xfrm>
              <a:off x="1671066" y="5592128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누출 배출량 · tCO₂e/년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38016" y="5592128"/>
              <a:ext cx="1812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해당성 평가 · 방법론별 설정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38366" y="559212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비해당·0 적용의 근거 보존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12737" y="6160770"/>
            <a:ext cx="5249609" cy="176212"/>
            <a:chOff x="312737" y="6160770"/>
            <a:chExt cx="5249609" cy="176212"/>
          </a:xfrm>
        </p:grpSpPr>
        <p:sp>
          <p:nvSpPr>
            <p:cNvPr id="49" name="TextBox 49"/>
            <p:cNvSpPr txBox="1"/>
            <p:nvPr/>
          </p:nvSpPr>
          <p:spPr>
            <a:xfrm>
              <a:off x="312737" y="6160770"/>
              <a:ext cx="5249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y는 산정연도 · 수치·계수 미입력 · 인계물: 산정파일·원자료·검토이력·방법론 판본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51" name="Rectangle 51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56791" y="654462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감축사업 · 최종보고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606</Words>
  <Application>Microsoft Office PowerPoint</Application>
  <PresentationFormat>A4 용지(210x297mm)</PresentationFormat>
  <Paragraphs>140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Malgun Gothic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세진 김</cp:lastModifiedBy>
  <cp:revision>2</cp:revision>
  <dcterms:created xsi:type="dcterms:W3CDTF">2026-10-21T07:40:32Z</dcterms:created>
  <dcterms:modified xsi:type="dcterms:W3CDTF">2026-10-21T07:41:33Z</dcterms:modified>
  <cp:category/>
  <cp:contentStatus/>
  <dc:language/>
</cp:coreProperties>
</file>